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50231" y="792314"/>
            <a:ext cx="5443538" cy="3558843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1269160"/>
            <a:ext cx="428625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108424" y="2278410"/>
            <a:ext cx="2927152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OrientApp</a:t>
            </a:r>
            <a:endParaRPr lang="en-US" sz="4350" dirty="0"/>
          </a:p>
        </p:txBody>
      </p:sp>
      <p:sp>
        <p:nvSpPr>
          <p:cNvPr id="6" name="Text 2"/>
          <p:cNvSpPr/>
          <p:nvPr/>
        </p:nvSpPr>
        <p:spPr>
          <a:xfrm>
            <a:off x="2637830" y="3252806"/>
            <a:ext cx="386834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spc="1" kern="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Illuminez Votre Futur Académique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2143125" y="3658214"/>
            <a:ext cx="4857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qu'une application, un compagnon de voyage intelligent pour chaque bachelier en quête d'excellence. Bienvenue dans l'ère de l'orientation dynamique et personnalisée.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857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27531"/>
            <a:ext cx="4876781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Une Boussole Digitale pour les Bacheliers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57200" y="1816940"/>
            <a:ext cx="2388384" cy="12493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940170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1916953"/>
            <a:ext cx="107692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Innovation IA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57213" y="2191987"/>
            <a:ext cx="2188359" cy="78860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de l'intelligence artificielle pour faire correspondre les passions des étudiants avec les filières d'avenir les plus pertinentes.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2945597" y="1816940"/>
            <a:ext cx="2388384" cy="124937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609" y="1940170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45634" y="1916953"/>
            <a:ext cx="165377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Accessibilité Mobile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045609" y="2191987"/>
            <a:ext cx="2188359" cy="788603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expérience 100% mobile, fluide et disponible partout. OrientApp accompagne l'étudiant à chaque étape de sa réflexion.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457200" y="3137753"/>
            <a:ext cx="4876781" cy="88364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3260982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0100" y="3237765"/>
            <a:ext cx="1793081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Engagement Réussite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57213" y="3512800"/>
            <a:ext cx="4676756" cy="422877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Réduire l'incertitude et booster la confiance des futurs étudiants dès l'obtention du Bac pour maximiser leurs chances de succès.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L'Écosystème OrientApp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222223"/>
            <a:ext cx="85725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solution complète pour transformer l'orientation scolaire.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71500" y="1463325"/>
            <a:ext cx="2590781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4375" y="1591912"/>
            <a:ext cx="357188" cy="3571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8478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375" y="2063400"/>
            <a:ext cx="230503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Accès Sécurisé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14375" y="2302715"/>
            <a:ext cx="2305031" cy="35718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Authentification robuste via Email, Google ou Apple pour protéger les données des étudiants.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3276581" y="1463325"/>
            <a:ext cx="2590809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19456" y="1591912"/>
            <a:ext cx="357188" cy="357188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56" y="1684781"/>
            <a:ext cx="128588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19456" y="2063400"/>
            <a:ext cx="230505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Quiz Intelligent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419456" y="2302715"/>
            <a:ext cx="2305059" cy="35718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Questionnaire dynamique analysant les passions, les notes et les aspirations de l'élève.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981691" y="1463325"/>
            <a:ext cx="2590781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24566" y="1591912"/>
            <a:ext cx="357188" cy="35718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34" y="1684781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4566" y="2063400"/>
            <a:ext cx="230503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IA Recommendations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124566" y="2302715"/>
            <a:ext cx="2305031" cy="35718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Algorithme de matching prédisant les filières les plus adaptées avec un score de compatibilité.</a:t>
            </a:r>
            <a:endParaRPr lang="en-US" sz="750" dirty="0"/>
          </a:p>
        </p:txBody>
      </p:sp>
      <p:sp>
        <p:nvSpPr>
          <p:cNvPr id="20" name="Shape 14"/>
          <p:cNvSpPr/>
          <p:nvPr/>
        </p:nvSpPr>
        <p:spPr>
          <a:xfrm>
            <a:off x="571500" y="2992087"/>
            <a:ext cx="2590781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14375" y="3120675"/>
            <a:ext cx="357188" cy="35718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28" y="3213543"/>
            <a:ext cx="192881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4375" y="3592162"/>
            <a:ext cx="230503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Catalogue Expert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14375" y="3831478"/>
            <a:ext cx="2305031" cy="35718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exhaustive des formations avec filtres avancés par domaine et durée.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3276581" y="2992087"/>
            <a:ext cx="2590809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419456" y="3120675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2325" y="3213543"/>
            <a:ext cx="171450" cy="1714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419456" y="3592162"/>
            <a:ext cx="230505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Dashboard Perso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419456" y="3831478"/>
            <a:ext cx="2305059" cy="35718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en temps réel des favoris, des recherches et des recommandations sauvegardées.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5981691" y="2992087"/>
            <a:ext cx="2590781" cy="1428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124566" y="3120675"/>
            <a:ext cx="357188" cy="3571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8150" y="3213543"/>
            <a:ext cx="150019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124566" y="3592162"/>
            <a:ext cx="230503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Suivi &amp; Alertes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6124566" y="3831478"/>
            <a:ext cx="2305031" cy="35718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intelligentes pour ne rater aucune opportunité ou date limite d'inscription.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91837"/>
            <a:ext cx="4000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Une Entrée en Matière Fluide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209847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L'interface de connexion privilégie la clarté et l'immersion. Avec des contrastes élevés et un design "glassmorphism", l'utilisateur est immédiatement plongé dans l'univers OrientApp.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29275" y="192881"/>
            <a:ext cx="2457450" cy="4743450"/>
          </a:xfrm>
          <a:prstGeom prst="rect">
            <a:avLst/>
          </a:prstGeom>
          <a:solidFill>
            <a:srgbClr val="000000"/>
          </a:solidFill>
          <a:ln w="82296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0" y="278606"/>
            <a:ext cx="2286000" cy="4572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406" y="741164"/>
            <a:ext cx="357188" cy="3571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68591" y="1425178"/>
            <a:ext cx="1978819" cy="371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68591" y="1425178"/>
            <a:ext cx="1978819" cy="3714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868591" y="1868091"/>
            <a:ext cx="1978819" cy="371475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68591" y="1868091"/>
            <a:ext cx="1978819" cy="3714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 de passe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929313" y="2425303"/>
            <a:ext cx="1857375" cy="3571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9"/>
          <p:cNvSpPr/>
          <p:nvPr/>
        </p:nvSpPr>
        <p:spPr>
          <a:xfrm>
            <a:off x="5929313" y="2425303"/>
            <a:ext cx="18573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 connecter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211491" y="2996803"/>
            <a:ext cx="335756" cy="335756"/>
          </a:xfrm>
          <a:prstGeom prst="ellipse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898" y="3100388"/>
            <a:ext cx="108942" cy="114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682978" y="2996803"/>
            <a:ext cx="335756" cy="335756"/>
          </a:xfrm>
          <a:prstGeom prst="ellipse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994" y="3100388"/>
            <a:ext cx="85725" cy="1143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154466" y="2996803"/>
            <a:ext cx="335756" cy="335756"/>
          </a:xfrm>
          <a:prstGeom prst="ellipse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25" y="3100388"/>
            <a:ext cx="71438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98981"/>
            <a:ext cx="4000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Votre Profil, Notre Priorité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216990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questionnaire ludique et interactif conçu pour capturer vos aspirations. Grâce à une interface fluide et des feedbacks visuels colorés, l'étudiant reste engagé tout au long de son évaluation.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29275" y="200025"/>
            <a:ext cx="2457450" cy="4743450"/>
          </a:xfrm>
          <a:prstGeom prst="rect">
            <a:avLst/>
          </a:prstGeom>
          <a:solidFill>
            <a:srgbClr val="000000"/>
          </a:solidFill>
          <a:ln w="82296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0" y="285750"/>
            <a:ext cx="2286000" cy="457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5857875" y="642938"/>
            <a:ext cx="2000250" cy="42863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857875" y="971550"/>
            <a:ext cx="2000250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Quelle est votre matière préférée 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7875" y="1589484"/>
            <a:ext cx="2000250" cy="350044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031" y="1707356"/>
            <a:ext cx="125016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97203" y="1696641"/>
            <a:ext cx="95190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Informatique &amp; Tech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5857875" y="2010966"/>
            <a:ext cx="2000250" cy="35004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031" y="2128838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118122"/>
            <a:ext cx="10251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Sciences &amp; Médecine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857875" y="2432447"/>
            <a:ext cx="2000250" cy="350044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031" y="2550319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72200" y="2539603"/>
            <a:ext cx="6429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Arts &amp; Design</a:t>
            </a:r>
            <a:endParaRPr lang="en-US" sz="750" dirty="0"/>
          </a:p>
        </p:txBody>
      </p:sp>
      <p:sp>
        <p:nvSpPr>
          <p:cNvPr id="18" name="Shape 12"/>
          <p:cNvSpPr/>
          <p:nvPr/>
        </p:nvSpPr>
        <p:spPr>
          <a:xfrm>
            <a:off x="5857875" y="4286250"/>
            <a:ext cx="2000250" cy="3571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3"/>
          <p:cNvSpPr/>
          <p:nvPr/>
        </p:nvSpPr>
        <p:spPr>
          <a:xfrm>
            <a:off x="6501705" y="4391620"/>
            <a:ext cx="5411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Continuer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282" y="4407694"/>
            <a:ext cx="100013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6106"/>
            <a:ext cx="4000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 Choix Éclairés par la Donnée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002678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L'algorithme d'OrientApp analyse vos résultats et vos passions pour générer des scores de compatibilité précis. Visualisez instantanément les filières où vous avez le plus de chances de briller.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71500" y="3111298"/>
            <a:ext cx="3214688" cy="17859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254173"/>
            <a:ext cx="2914650" cy="1485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29275" y="200025"/>
            <a:ext cx="2457450" cy="4743450"/>
          </a:xfrm>
          <a:prstGeom prst="rect">
            <a:avLst/>
          </a:prstGeom>
          <a:solidFill>
            <a:srgbClr val="000000"/>
          </a:solidFill>
          <a:ln w="82296">
            <a:solidFill>
              <a:srgbClr val="1E293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715000" y="285750"/>
            <a:ext cx="2286000" cy="457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5"/>
          <p:cNvSpPr/>
          <p:nvPr/>
        </p:nvSpPr>
        <p:spPr>
          <a:xfrm>
            <a:off x="5857875" y="642938"/>
            <a:ext cx="2000250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Vos Recommandations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57875" y="1046559"/>
            <a:ext cx="2000250" cy="80188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65031" y="1153716"/>
            <a:ext cx="7143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Informatique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550944" y="1169789"/>
            <a:ext cx="20002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94%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5965031" y="1362670"/>
            <a:ext cx="1785938" cy="28575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5965031" y="1462683"/>
            <a:ext cx="1785938" cy="264319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65031" y="1462683"/>
            <a:ext cx="17859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Voir les débouchés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5857875" y="1927027"/>
            <a:ext cx="2000250" cy="80188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65031" y="2034183"/>
            <a:ext cx="5518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Médecine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7552730" y="2050256"/>
            <a:ext cx="19823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88%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5965031" y="2243138"/>
            <a:ext cx="1785938" cy="28575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5965031" y="2343150"/>
            <a:ext cx="1785938" cy="264319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965031" y="2343150"/>
            <a:ext cx="17859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Voir les débouchés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>
            <a:off x="5857875" y="2807494"/>
            <a:ext cx="2000250" cy="80188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65031" y="2914650"/>
            <a:ext cx="5929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Génie Civil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559873" y="2930723"/>
            <a:ext cx="19109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76%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5965031" y="3123605"/>
            <a:ext cx="1785938" cy="28575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5965031" y="3223617"/>
            <a:ext cx="1785938" cy="264319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965031" y="3223617"/>
            <a:ext cx="17859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Voir les débouchés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98981"/>
            <a:ext cx="4000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3F5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Un Univers de Possibilités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216990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Explorez des centaines de formations avec une fluidité inégalée. Le catalogue intelligent permet de filtrer par domaine, durée et débouchés pour trouver la voie qui vous correspond vraiment.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629275" y="200025"/>
            <a:ext cx="2457450" cy="4743450"/>
          </a:xfrm>
          <a:prstGeom prst="rect">
            <a:avLst/>
          </a:prstGeom>
          <a:solidFill>
            <a:srgbClr val="000000"/>
          </a:solidFill>
          <a:ln w="82296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0" y="285750"/>
            <a:ext cx="2286000" cy="457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5822156" y="642938"/>
            <a:ext cx="2071688" cy="335756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3" y="753666"/>
            <a:ext cx="100013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00763" y="742950"/>
            <a:ext cx="6250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Rechercher...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822156" y="1107281"/>
            <a:ext cx="383977" cy="187523"/>
          </a:xfrm>
          <a:prstGeom prst="round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22156" y="1107281"/>
            <a:ext cx="383977" cy="18752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</a:t>
            </a:r>
            <a:endParaRPr lang="en-US" sz="500" dirty="0"/>
          </a:p>
        </p:txBody>
      </p:sp>
      <p:sp>
        <p:nvSpPr>
          <p:cNvPr id="12" name="Shape 8"/>
          <p:cNvSpPr/>
          <p:nvPr/>
        </p:nvSpPr>
        <p:spPr>
          <a:xfrm>
            <a:off x="6263283" y="1107281"/>
            <a:ext cx="428625" cy="187523"/>
          </a:xfrm>
          <a:prstGeom prst="roundRect">
            <a:avLst/>
          </a:prstGeom>
          <a:solidFill>
            <a:srgbClr val="F43F5E">
              <a:alpha val="10000"/>
            </a:srgbClr>
          </a:solidFill>
          <a:ln w="9144">
            <a:solidFill>
              <a:srgbClr val="F43F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63283" y="1107281"/>
            <a:ext cx="428625" cy="18752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F43F5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SANTÉ</a:t>
            </a:r>
            <a:endParaRPr lang="en-US" sz="500" dirty="0"/>
          </a:p>
        </p:txBody>
      </p:sp>
      <p:sp>
        <p:nvSpPr>
          <p:cNvPr id="14" name="Shape 10"/>
          <p:cNvSpPr/>
          <p:nvPr/>
        </p:nvSpPr>
        <p:spPr>
          <a:xfrm>
            <a:off x="6749058" y="1107281"/>
            <a:ext cx="380405" cy="187523"/>
          </a:xfrm>
          <a:prstGeom prst="round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49058" y="1107281"/>
            <a:ext cx="380405" cy="18752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8B5C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ARTS</a:t>
            </a:r>
            <a:endParaRPr lang="en-US" sz="500" dirty="0"/>
          </a:p>
        </p:txBody>
      </p:sp>
      <p:sp>
        <p:nvSpPr>
          <p:cNvPr id="16" name="Shape 12"/>
          <p:cNvSpPr/>
          <p:nvPr/>
        </p:nvSpPr>
        <p:spPr>
          <a:xfrm>
            <a:off x="5822156" y="1459111"/>
            <a:ext cx="2071688" cy="84363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29313" y="1566267"/>
            <a:ext cx="7661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Génie Logiciel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672" y="1566267"/>
            <a:ext cx="125016" cy="1464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29313" y="1855589"/>
            <a:ext cx="1857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Conception d'applications, architecture système et développement web moderne.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5822156" y="2374181"/>
            <a:ext cx="2071688" cy="84363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29313" y="2481337"/>
            <a:ext cx="7233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Science</a:t>
            </a:r>
            <a:endParaRPr lang="en-US" sz="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173" y="2481337"/>
            <a:ext cx="112514" cy="1464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29313" y="2770659"/>
            <a:ext cx="1857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 données massives, Machine Learning et intelligence artificielle.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5822156" y="3289250"/>
            <a:ext cx="2071688" cy="84363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929313" y="3396407"/>
            <a:ext cx="78045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Cybersécurité</a:t>
            </a:r>
            <a:endParaRPr lang="en-US" sz="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3396407"/>
            <a:ext cx="100013" cy="1464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29313" y="3685729"/>
            <a:ext cx="1857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des réseaux, cryptographie et défense contre les cyberattaques.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7275" y="200025"/>
            <a:ext cx="2457450" cy="4743450"/>
          </a:xfrm>
          <a:prstGeom prst="rect">
            <a:avLst/>
          </a:prstGeom>
          <a:solidFill>
            <a:srgbClr val="000000"/>
          </a:solidFill>
          <a:ln w="82296">
            <a:solidFill>
              <a:srgbClr val="1E293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285750"/>
            <a:ext cx="2286000" cy="4572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1285875" y="642938"/>
            <a:ext cx="20002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Bonjour, Fatou ! 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85875" y="1039416"/>
            <a:ext cx="946547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93031" y="1146572"/>
            <a:ext cx="73223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93031" y="1401961"/>
            <a:ext cx="732234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spc="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RECO.</a:t>
            </a:r>
            <a:endParaRPr lang="en-US" sz="500" dirty="0"/>
          </a:p>
        </p:txBody>
      </p:sp>
      <p:sp>
        <p:nvSpPr>
          <p:cNvPr id="9" name="Shape 6"/>
          <p:cNvSpPr/>
          <p:nvPr/>
        </p:nvSpPr>
        <p:spPr>
          <a:xfrm>
            <a:off x="2339578" y="1039416"/>
            <a:ext cx="946547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46734" y="1146572"/>
            <a:ext cx="73223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46734" y="1401961"/>
            <a:ext cx="732234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00" spc="1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FAVORIS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1285875" y="1810941"/>
            <a:ext cx="2000250" cy="283249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28750" y="1953816"/>
            <a:ext cx="1714500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DERNIÈRE ACTIVITÉ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428750" y="2166342"/>
            <a:ext cx="250031" cy="250031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328" y="2234208"/>
            <a:ext cx="142875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64506" y="2235101"/>
            <a:ext cx="101262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Informatique consultée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1428750" y="2523530"/>
            <a:ext cx="250031" cy="250031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2591395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64506" y="2592288"/>
            <a:ext cx="10108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Génie Civil sauvegardé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5000625" y="998981"/>
            <a:ext cx="3571875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43F5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Pilotez Votre Avenir avec Style</a:t>
            </a:r>
            <a:endParaRPr lang="en-US" sz="2450" dirty="0"/>
          </a:p>
        </p:txBody>
      </p:sp>
      <p:sp>
        <p:nvSpPr>
          <p:cNvPr id="21" name="Text 16"/>
          <p:cNvSpPr/>
          <p:nvPr/>
        </p:nvSpPr>
        <p:spPr>
          <a:xfrm>
            <a:off x="5000625" y="2066972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Vue d'ensemble personnalisée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00625" y="2363437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accueil chaleureux et un accès direct aux indicateurs clés de votre orientation dès l'ouverture.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000625" y="3107782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Suivi en temps réel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000625" y="3404248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Visualisez instantanément vos progrès, vos recommandations et vos formations sauvegardées.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000625" y="4148593"/>
            <a:ext cx="35718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Historique intelligent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000625" y="4445059"/>
            <a:ext cx="3571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Reprenez votre exploration là où vous l'avez laissée grâce au suivi d'activité dynamique.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135856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8001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8B5C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 Puissance de Flutter &amp; Laravel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1279373"/>
            <a:ext cx="8001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stack moderne garantissant performance, sécurité et scalabilité.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0" y="1143000"/>
            <a:ext cx="3047981" cy="40005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040838" y="1143000"/>
            <a:ext cx="7144" cy="400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428750"/>
            <a:ext cx="1353741" cy="3036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PRÉSENTATION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952923"/>
            <a:ext cx="107156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506" y="1946672"/>
            <a:ext cx="803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Flutter (Dart)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28625" y="2202061"/>
            <a:ext cx="21907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utilisateur réactive et multiplateforme (iOS &amp; Android) avec une base de code unique.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002663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7225" y="2996412"/>
            <a:ext cx="5250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Widgets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28625" y="3251802"/>
            <a:ext cx="21907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Composants personnalisés pour une expérience utilisateur fluide et cohérente.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3047981" y="1143000"/>
            <a:ext cx="3048009" cy="40005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088847" y="1143000"/>
            <a:ext cx="7144" cy="400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3476606" y="1428750"/>
            <a:ext cx="680442" cy="30360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MÉTIER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06" y="1952923"/>
            <a:ext cx="142875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05206" y="1946672"/>
            <a:ext cx="850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Laravel (PHP)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476606" y="2202061"/>
            <a:ext cx="21907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REST robuste gérant la logique métier, l'authentification et les recommandations.</a:t>
            </a:r>
            <a:endParaRPr lang="en-US" sz="7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06" y="2842654"/>
            <a:ext cx="142875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05206" y="2836404"/>
            <a:ext cx="5589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Sanctum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476606" y="3091793"/>
            <a:ext cx="21907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Système d'authentification léger et sécurisé pour les applications mobiles.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6095991" y="1143000"/>
            <a:ext cx="3047981" cy="40005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6524616" y="1428750"/>
            <a:ext cx="851892" cy="303609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DONNÉES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16" y="1952923"/>
            <a:ext cx="125016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35356" y="1946672"/>
            <a:ext cx="455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6524616" y="2202061"/>
            <a:ext cx="21907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relationnelle pour le stockage structuré des profils et des formations.</a:t>
            </a:r>
            <a:endParaRPr lang="en-US" sz="7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16" y="3002663"/>
            <a:ext cx="142875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753216" y="2996412"/>
            <a:ext cx="6554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Scalabilité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6524616" y="3251802"/>
            <a:ext cx="219073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conçue pour supporter une montée en charge progressive des utilisateurs.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385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09" y="1326952"/>
            <a:ext cx="535781" cy="4286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232478"/>
            <a:ext cx="6429375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L'Avenir est à Vous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1357313" y="3087942"/>
            <a:ext cx="6429375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OrientApp est le partenaire de votre réussite. Rejoignez la communauté des étudiants qui choisissent leur futur avec audace et clarté.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4333745"/>
            <a:ext cx="9144000" cy="900113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0" y="433374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1338253" y="4619495"/>
            <a:ext cx="371475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ÉQUIPE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1241813" y="4785587"/>
            <a:ext cx="564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 3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191567" y="4619495"/>
            <a:ext cx="760809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ENCADREMENT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4220142" y="4785587"/>
            <a:ext cx="7036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Mme Ngom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52103" y="4619495"/>
            <a:ext cx="335756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B82F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ANNÉE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7236005" y="4785587"/>
            <a:ext cx="7679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–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2026-04-22T21:50:46Z</dcterms:created>
  <dcterms:modified xsi:type="dcterms:W3CDTF">2026-04-22T21:50:46Z</dcterms:modified>
</cp:coreProperties>
</file>